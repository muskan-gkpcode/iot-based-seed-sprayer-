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6" r:id="rId1"/>
  </p:sldMasterIdLst>
  <p:notesMasterIdLst>
    <p:notesMasterId r:id="rId13"/>
  </p:notesMasterIdLst>
  <p:sldIdLst>
    <p:sldId id="311" r:id="rId2"/>
    <p:sldId id="312" r:id="rId3"/>
    <p:sldId id="320" r:id="rId4"/>
    <p:sldId id="321" r:id="rId5"/>
    <p:sldId id="322" r:id="rId6"/>
    <p:sldId id="328" r:id="rId7"/>
    <p:sldId id="329" r:id="rId8"/>
    <p:sldId id="332" r:id="rId9"/>
    <p:sldId id="333" r:id="rId10"/>
    <p:sldId id="331" r:id="rId11"/>
    <p:sldId id="31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0704B01-699C-4923-8897-52F5239320A3}">
          <p14:sldIdLst>
            <p14:sldId id="311"/>
            <p14:sldId id="312"/>
            <p14:sldId id="320"/>
            <p14:sldId id="321"/>
            <p14:sldId id="322"/>
            <p14:sldId id="328"/>
            <p14:sldId id="329"/>
          </p14:sldIdLst>
        </p14:section>
        <p14:section name="Untitled Section" id="{337266C5-AFCC-46FE-AFEF-9F72395E48CC}">
          <p14:sldIdLst>
            <p14:sldId id="332"/>
            <p14:sldId id="333"/>
            <p14:sldId id="331"/>
            <p14:sldId id="3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2" autoAdjust="0"/>
    <p:restoredTop sz="95706" autoAdjust="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>
        <p:guide orient="horz" pos="2160"/>
        <p:guide pos="384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0486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>
            <a:lvl1pPr algn="r">
              <a:defRPr sz="1100"/>
            </a:lvl1pPr>
          </a:lstStyle>
          <a:p>
            <a:endParaRPr lang="en-US" dirty="0"/>
          </a:p>
        </p:txBody>
      </p:sp>
      <p:sp>
        <p:nvSpPr>
          <p:cNvPr id="10486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</p:spPr>
      </p:sp>
      <p:sp>
        <p:nvSpPr>
          <p:cNvPr id="10486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l">
              <a:defRPr sz="1100"/>
            </a:lvl1pPr>
          </a:lstStyle>
          <a:p>
            <a:endParaRPr lang="en-US" dirty="0"/>
          </a:p>
        </p:txBody>
      </p:sp>
      <p:sp>
        <p:nvSpPr>
          <p:cNvPr id="10486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92" tIns="45745" rIns="91492" bIns="45745" numCol="1" anchor="b" anchorCtr="0" compatLnSpc="1"/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58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34D3-939B-4EBD-998C-7CAF7924BC78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104858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CC36-F47F-4522-B396-0D2C342F40D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034D3-939B-4EBD-998C-7CAF7924BC78}" type="datetimeFigureOut">
              <a:rPr lang="en-US" smtClean="0"/>
              <a:pPr/>
              <a:t>3/24/2026</a:t>
            </a:fld>
            <a:endParaRPr lang="en-US" dirty="0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DCC36-F47F-4522-B396-0D2C342F40D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Picture 3" descr="C:\Users\FACULTY\Desktop\aktu logo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555809" y="618579"/>
            <a:ext cx="1256441" cy="1256441"/>
          </a:xfrm>
          <a:prstGeom prst="rect">
            <a:avLst/>
          </a:prstGeom>
          <a:noFill/>
        </p:spPr>
      </p:pic>
      <p:sp>
        <p:nvSpPr>
          <p:cNvPr id="1048612" name="TextBox 1048611"/>
          <p:cNvSpPr txBox="1"/>
          <p:nvPr/>
        </p:nvSpPr>
        <p:spPr>
          <a:xfrm>
            <a:off x="4096000" y="2832100"/>
            <a:ext cx="4000000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GB" sz="2800" dirty="0">
              <a:solidFill>
                <a:srgbClr val="000000"/>
              </a:solidFill>
            </a:endParaRP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759075" y="2314575"/>
            <a:ext cx="6286500" cy="14192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b="1" dirty="0">
                <a:latin typeface="Baskerville Old Face" pitchFamily="18" charset="0"/>
                <a:ea typeface="Calibri" pitchFamily="34" charset="0"/>
                <a:cs typeface="Times New Roman" pitchFamily="18" charset="0"/>
              </a:rPr>
              <a:t>Presentation by :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en-US" sz="2000" b="1" dirty="0">
              <a:latin typeface="Baskerville Old Face" pitchFamily="18" charset="0"/>
              <a:ea typeface="Calibri" pitchFamily="34" charset="0"/>
              <a:cs typeface="Times New Roman" pitchFamily="18" charset="0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b="1" dirty="0">
                <a:latin typeface="Baskerville Old Face" pitchFamily="18" charset="0"/>
                <a:ea typeface="Calibri" pitchFamily="34" charset="0"/>
                <a:cs typeface="Times New Roman" pitchFamily="18" charset="0"/>
              </a:rPr>
              <a:t>MUSKAN CHAUHAN - </a:t>
            </a:r>
            <a:r>
              <a:rPr lang="en-US" altLang="en-US" sz="2000" b="1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2305250310029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b="1" dirty="0">
                <a:latin typeface="Baskerville Old Face" pitchFamily="18" charset="0"/>
                <a:ea typeface="Calibri" pitchFamily="34" charset="0"/>
                <a:cs typeface="Times New Roman" pitchFamily="18" charset="0"/>
              </a:rPr>
              <a:t>MONALI NISHAD- </a:t>
            </a:r>
            <a:r>
              <a:rPr lang="en-US" altLang="en-US" sz="2000" b="1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2305250310027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en-US" sz="2000" b="1" dirty="0">
                <a:latin typeface="Baskerville Old Face" pitchFamily="18" charset="0"/>
                <a:ea typeface="Calibri" pitchFamily="34" charset="0"/>
                <a:cs typeface="Times New Roman" pitchFamily="18" charset="0"/>
              </a:rPr>
              <a:t>MUSKAN NISHAD- </a:t>
            </a:r>
            <a:r>
              <a:rPr lang="en-US" altLang="en-US" sz="2000" b="1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2305250310030</a:t>
            </a:r>
          </a:p>
          <a:p>
            <a:pPr marL="228600" indent="-228600" algn="ctr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2000" b="1" dirty="0">
                <a:latin typeface="Baskerville Old Face" pitchFamily="18" charset="0"/>
                <a:ea typeface="Calibri" pitchFamily="34" charset="0"/>
                <a:cs typeface="Times New Roman" pitchFamily="18" charset="0"/>
              </a:rPr>
              <a:t>SANDHYA </a:t>
            </a:r>
            <a:r>
              <a:rPr lang="en-IN" altLang="en-US" sz="2000" b="1" dirty="0">
                <a:latin typeface="Baskerville Old Face" pitchFamily="18" charset="0"/>
                <a:ea typeface="Calibri" pitchFamily="34" charset="0"/>
                <a:cs typeface="Times New Roman" pitchFamily="18" charset="0"/>
              </a:rPr>
              <a:t>SAHANI</a:t>
            </a:r>
            <a:r>
              <a:rPr lang="en-US" altLang="en-US" sz="2000" b="1" dirty="0">
                <a:latin typeface="Baskerville Old Face" pitchFamily="18" charset="0"/>
                <a:ea typeface="Calibri" pitchFamily="34" charset="0"/>
                <a:cs typeface="Times New Roman" pitchFamily="18" charset="0"/>
              </a:rPr>
              <a:t>- </a:t>
            </a:r>
            <a:r>
              <a:rPr lang="en-US" altLang="en-US" sz="2000" b="1" dirty="0">
                <a:latin typeface="Arial" panose="020B0604020202020204" pitchFamily="34" charset="0"/>
                <a:ea typeface="Calibri" pitchFamily="34" charset="0"/>
                <a:cs typeface="Arial" panose="020B0604020202020204" pitchFamily="34" charset="0"/>
              </a:rPr>
              <a:t>2305250310047</a:t>
            </a: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en-US" sz="2000" b="1" dirty="0">
              <a:latin typeface="Baskerville Old Face" pitchFamily="18" charset="0"/>
              <a:ea typeface="Calibri" pitchFamily="34" charset="0"/>
              <a:cs typeface="Times New Roman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skerville Old Face" pitchFamily="18" charset="0"/>
              <a:ea typeface="Calibri" pitchFamily="34" charset="0"/>
              <a:cs typeface="Times New Roman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3200" b="1" i="0" u="sng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skerville Old Face" pitchFamily="18" charset="0"/>
              <a:ea typeface="Calibri" pitchFamily="34" charset="0"/>
              <a:cs typeface="Times New Roman" pitchFamily="18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Baskerville Old Face" pitchFamily="18" charset="0"/>
              <a:ea typeface="Calibri" pitchFamily="34" charset="0"/>
              <a:cs typeface="Times New Roman" pitchFamily="18" charset="0"/>
            </a:endParaRPr>
          </a:p>
        </p:txBody>
      </p:sp>
      <p:sp>
        <p:nvSpPr>
          <p:cNvPr id="10" name="Title 6"/>
          <p:cNvSpPr txBox="1">
            <a:spLocks/>
          </p:cNvSpPr>
          <p:nvPr/>
        </p:nvSpPr>
        <p:spPr>
          <a:xfrm>
            <a:off x="2073275" y="569913"/>
            <a:ext cx="7772400" cy="1373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400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 Project Presentation</a:t>
            </a:r>
            <a:b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on</a:t>
            </a:r>
            <a:b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</a:br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10000"/>
                  </a:schemeClr>
                </a:solidFill>
                <a:effectLst/>
                <a:uLnTx/>
                <a:uFillTx/>
                <a:latin typeface="Times New Roman" pitchFamily="18" charset="0"/>
                <a:ea typeface="+mj-ea"/>
                <a:cs typeface="Times New Roman" pitchFamily="18" charset="0"/>
              </a:rPr>
              <a:t>IOT B</a:t>
            </a:r>
            <a:r>
              <a:rPr lang="en-IN" sz="2800" b="1" dirty="0">
                <a:solidFill>
                  <a:schemeClr val="bg2">
                    <a:lumMod val="1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ASED SEED SPRAYER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886074" y="4003675"/>
            <a:ext cx="6498557" cy="768851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2000" b="1" dirty="0">
                <a:latin typeface="Baskerville Old Face" pitchFamily="18" charset="0"/>
                <a:ea typeface="Calibri" pitchFamily="34" charset="0"/>
                <a:cs typeface="Times New Roman" pitchFamily="18" charset="0"/>
              </a:rPr>
              <a:t>Under the guidance of :</a:t>
            </a:r>
          </a:p>
          <a:p>
            <a:pPr algn="ctr">
              <a:spcBef>
                <a:spcPct val="0"/>
              </a:spcBef>
            </a:pPr>
            <a:r>
              <a:rPr lang="en-US" altLang="en-US" sz="2000" b="1" dirty="0">
                <a:latin typeface="Baskerville Old Face" pitchFamily="18" charset="0"/>
                <a:ea typeface="Calibri" pitchFamily="34" charset="0"/>
                <a:cs typeface="Times New Roman" pitchFamily="18" charset="0"/>
              </a:rPr>
              <a:t>ARUN KUMAR MISHRA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2578100" y="5334000"/>
            <a:ext cx="7857289" cy="7688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indent="457200" algn="ctr"/>
            <a:r>
              <a:rPr lang="en-US" altLang="en-US" sz="2400" dirty="0">
                <a:solidFill>
                  <a:srgbClr val="990000"/>
                </a:solidFill>
                <a:latin typeface="Cambria" pitchFamily="18" charset="0"/>
                <a:ea typeface="Calibri" pitchFamily="34" charset="0"/>
                <a:cs typeface="Times New Roman" pitchFamily="18" charset="0"/>
              </a:rPr>
              <a:t>Department of Electronics and communication Engineering</a:t>
            </a:r>
          </a:p>
          <a:p>
            <a:pPr indent="457200" algn="ctr"/>
            <a:r>
              <a:rPr lang="en-US" altLang="en-US" sz="2400" dirty="0">
                <a:solidFill>
                  <a:srgbClr val="990000"/>
                </a:solidFill>
                <a:latin typeface="Cambria" pitchFamily="18" charset="0"/>
                <a:ea typeface="Calibri" pitchFamily="34" charset="0"/>
                <a:cs typeface="Times New Roman" pitchFamily="18" charset="0"/>
              </a:rPr>
              <a:t>Buddha Institute of Technology, GIDA, Gorakhpur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extBox 5"/>
          <p:cNvSpPr txBox="1"/>
          <p:nvPr/>
        </p:nvSpPr>
        <p:spPr>
          <a:xfrm>
            <a:off x="3048802" y="696043"/>
            <a:ext cx="60976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 </a:t>
            </a:r>
          </a:p>
        </p:txBody>
      </p:sp>
      <p:sp>
        <p:nvSpPr>
          <p:cNvPr id="1048592" name="TextBox 6"/>
          <p:cNvSpPr txBox="1"/>
          <p:nvPr/>
        </p:nvSpPr>
        <p:spPr>
          <a:xfrm>
            <a:off x="1249326" y="1608668"/>
            <a:ext cx="10271758" cy="425730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Methodology/Technology used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Social/Environmental Relevance of Proposed work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extBox 5"/>
          <p:cNvSpPr txBox="1"/>
          <p:nvPr/>
        </p:nvSpPr>
        <p:spPr>
          <a:xfrm>
            <a:off x="2589775" y="618579"/>
            <a:ext cx="60976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Brief Introduction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E5CE06-F250-1F0B-802C-934A928D0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6463" y="2153404"/>
            <a:ext cx="6310844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2000" dirty="0">
                <a:latin typeface="Arial" panose="020B0604020202020204" pitchFamily="34" charset="0"/>
              </a:rPr>
              <a:t>IoT Based Seed Sprayer is a smart agriculture system used for automatic seed sowing and spraying. </a:t>
            </a:r>
            <a:br>
              <a:rPr lang="en-US" altLang="en-US" sz="2000" dirty="0">
                <a:latin typeface="Arial" panose="020B0604020202020204" pitchFamily="34" charset="0"/>
              </a:rPr>
            </a:b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• It uses sensors, microcontrollers (Arduino/Node MCU), and IoT technology to monitor field conditions.</a:t>
            </a:r>
            <a:br>
              <a:rPr lang="en-US" altLang="en-US" sz="2000" dirty="0">
                <a:latin typeface="Arial" panose="020B0604020202020204" pitchFamily="34" charset="0"/>
              </a:rPr>
            </a:b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• The system can automatically control seed spraying based on soil conditions and user input.</a:t>
            </a:r>
            <a:br>
              <a:rPr lang="en-US" altLang="en-US" sz="2000" dirty="0">
                <a:latin typeface="Arial" panose="020B0604020202020204" pitchFamily="34" charset="0"/>
              </a:rPr>
            </a:br>
            <a:br>
              <a:rPr lang="en-US" altLang="en-US" sz="2000" dirty="0">
                <a:latin typeface="Arial" panose="020B0604020202020204" pitchFamily="34" charset="0"/>
              </a:rPr>
            </a:br>
            <a:r>
              <a:rPr lang="en-US" altLang="en-US" sz="2000" dirty="0">
                <a:latin typeface="Arial" panose="020B0604020202020204" pitchFamily="34" charset="0"/>
              </a:rPr>
              <a:t>• Traditional farming methods are time-consuming, labor-intensive, and may lead to uneven seed distribution.</a:t>
            </a:r>
            <a:br>
              <a:rPr lang="en-US" altLang="en-US" sz="2000" dirty="0">
                <a:latin typeface="Arial" panose="020B0604020202020204" pitchFamily="34" charset="0"/>
              </a:rPr>
            </a:b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AD3A74-11EF-71A2-D79B-0C750C10E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4033" y="1443789"/>
            <a:ext cx="4523264" cy="39704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CDB1-4FA5-C64B-A862-BB1788B28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2290" y="-74023"/>
            <a:ext cx="3932237" cy="1600200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D1AEBD-8C15-67A1-28E1-912A346BC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006" y="1968137"/>
            <a:ext cx="6897188" cy="46251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Traditional farming methods rely on manual seed sowing and irrigation, which are time-consuming and labor-intensive.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• Earlier techniques lacked real-time monitoring of soil conditions such as moisture, temperature, and humidity.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/>
              <a:t>• Recent research focuses on IoT-based smart agriculture systems using sensors and wireless communication.</a:t>
            </a:r>
          </a:p>
          <a:p>
            <a:pPr marL="0" indent="0">
              <a:buNone/>
            </a:pPr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61252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61172-3C84-E065-4AE8-4A898BC15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7642" y="-169333"/>
            <a:ext cx="6839479" cy="1312333"/>
          </a:xfrm>
        </p:spPr>
        <p:txBody>
          <a:bodyPr/>
          <a:lstStyle/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EBE2D-3954-41C3-0CEE-3A2DD996F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901825"/>
            <a:ext cx="6383867" cy="4873625"/>
          </a:xfrm>
        </p:spPr>
        <p:txBody>
          <a:bodyPr>
            <a:normAutofit fontScale="85000" lnSpcReduction="20000"/>
          </a:bodyPr>
          <a:lstStyle/>
          <a:p>
            <a:r>
              <a:rPr lang="en-US" sz="2800" dirty="0"/>
              <a:t>Here are the objectives of an IoT-based Seed Sprayer project in clear points:</a:t>
            </a:r>
          </a:p>
          <a:p>
            <a:r>
              <a:rPr lang="en-US" sz="2800" dirty="0"/>
              <a:t>Automation of Seed Spraying</a:t>
            </a:r>
          </a:p>
          <a:p>
            <a:endParaRPr lang="en-US" sz="2800" dirty="0"/>
          </a:p>
          <a:p>
            <a:r>
              <a:rPr lang="en-US" sz="2800" dirty="0"/>
              <a:t>Efficient Use of Seeds</a:t>
            </a:r>
          </a:p>
          <a:p>
            <a:r>
              <a:rPr lang="en-US" sz="2800" dirty="0"/>
              <a:t>To ensure uniform and controlled distribution of seeds, minimizing wastage.</a:t>
            </a:r>
          </a:p>
          <a:p>
            <a:endParaRPr lang="en-US" sz="2800" dirty="0"/>
          </a:p>
          <a:p>
            <a:r>
              <a:rPr lang="en-US" sz="2800" dirty="0"/>
              <a:t>Remote Monitoring and Control</a:t>
            </a:r>
          </a:p>
          <a:p>
            <a:r>
              <a:rPr lang="en-US" sz="2800" dirty="0"/>
              <a:t>To allow farmers to monitor and control the sprayer using mobile apps or internet-based systems.</a:t>
            </a:r>
          </a:p>
          <a:p>
            <a:r>
              <a:rPr lang="en-US" sz="2800" dirty="0"/>
              <a:t>Time and Labor Saving</a:t>
            </a:r>
          </a:p>
          <a:p>
            <a:endParaRPr lang="en-US" sz="2800" dirty="0"/>
          </a:p>
          <a:p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FFCF60-86C6-C2CC-8ED2-4E279EA67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1506" y="1901825"/>
            <a:ext cx="3066881" cy="2638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948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25C7-F721-8635-AAE0-ACFF4CFC2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920" y="237066"/>
            <a:ext cx="8194145" cy="1337733"/>
          </a:xfrm>
        </p:spPr>
        <p:txBody>
          <a:bodyPr/>
          <a:lstStyle/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</a:t>
            </a:r>
            <a:b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7FC3A-9B48-EDD8-2351-A3DECCEA97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8254" y="1930400"/>
            <a:ext cx="5857345" cy="4800600"/>
          </a:xfrm>
        </p:spPr>
        <p:txBody>
          <a:bodyPr>
            <a:normAutofit/>
          </a:bodyPr>
          <a:lstStyle/>
          <a:p>
            <a:r>
              <a:rPr lang="en-IN" dirty="0"/>
              <a:t>🔹 </a:t>
            </a:r>
            <a:r>
              <a:rPr lang="en-IN" b="1" dirty="0"/>
              <a:t>Technical Feasibility</a:t>
            </a:r>
          </a:p>
          <a:p>
            <a:r>
              <a:rPr lang="en-IN" dirty="0"/>
              <a:t>-AI/ML algorithms can accurately detect spectrum availability</a:t>
            </a:r>
          </a:p>
          <a:p>
            <a:r>
              <a:rPr lang="en-IN" dirty="0"/>
              <a:t>-Software Defined Radio (SDR) supports real-time signal processing</a:t>
            </a:r>
          </a:p>
          <a:p>
            <a:r>
              <a:rPr lang="en-IN" dirty="0"/>
              <a:t>-System can work under different noise and signal conditions</a:t>
            </a:r>
          </a:p>
          <a:p>
            <a:r>
              <a:rPr lang="en-IN" dirty="0"/>
              <a:t>🔹 </a:t>
            </a:r>
            <a:r>
              <a:rPr lang="en-IN" b="1" dirty="0"/>
              <a:t>Economic Feasibility</a:t>
            </a:r>
          </a:p>
          <a:p>
            <a:r>
              <a:rPr lang="en-IN" dirty="0"/>
              <a:t>-Requires low-cost hardware and mostly software implementation</a:t>
            </a:r>
          </a:p>
          <a:p>
            <a:r>
              <a:rPr lang="en-IN" dirty="0"/>
              <a:t>-Reduces spectrum wastage → improves overall efficiency</a:t>
            </a:r>
          </a:p>
          <a:p>
            <a:r>
              <a:rPr lang="en-IN" dirty="0"/>
              <a:t>-Scalable system with minimal additional cost</a:t>
            </a:r>
          </a:p>
          <a:p>
            <a:r>
              <a:rPr lang="en-IN" dirty="0"/>
              <a:t>🔹</a:t>
            </a:r>
            <a:r>
              <a:rPr lang="en-IN" b="1" dirty="0"/>
              <a:t> Operational Feasibility</a:t>
            </a:r>
          </a:p>
          <a:p>
            <a:r>
              <a:rPr lang="en-IN" dirty="0"/>
              <a:t>-Easy integration with existing wireless networks</a:t>
            </a:r>
          </a:p>
          <a:p>
            <a:r>
              <a:rPr lang="en-IN" dirty="0"/>
              <a:t>-Supports real-time decision-making</a:t>
            </a:r>
          </a:p>
          <a:p>
            <a:r>
              <a:rPr lang="en-IN" dirty="0"/>
              <a:t>-Requires minimal human intervention (automated system)=---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542F9-2CF5-98B7-50A6-EABB68616F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513" y="1784685"/>
            <a:ext cx="4681233" cy="423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765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AFC3B-FC86-E871-E293-5AEA4DB49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956" y="721895"/>
            <a:ext cx="5064358" cy="1082842"/>
          </a:xfrm>
        </p:spPr>
        <p:txBody>
          <a:bodyPr>
            <a:normAutofit/>
          </a:bodyPr>
          <a:lstStyle/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Methodology/Technology </a:t>
            </a:r>
            <a:b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C6F0B-EB0C-9B6E-CF4D-B74F728AC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1900989"/>
            <a:ext cx="6096000" cy="46361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5800" b="1" dirty="0"/>
              <a:t>🔹 </a:t>
            </a:r>
            <a:r>
              <a:rPr lang="en-US" sz="5100" b="1" dirty="0"/>
              <a:t>Methodology</a:t>
            </a:r>
          </a:p>
          <a:p>
            <a:pPr marL="0" indent="0">
              <a:buNone/>
            </a:pPr>
            <a:r>
              <a:rPr lang="en-US" sz="3000" b="1" dirty="0"/>
              <a:t>1. System Design</a:t>
            </a:r>
          </a:p>
          <a:p>
            <a:pPr marL="0" indent="0">
              <a:buNone/>
            </a:pPr>
            <a:r>
              <a:rPr lang="en-US" sz="3000" b="1" dirty="0"/>
              <a:t>Design a smart seed sprayer system using IoT techno</a:t>
            </a:r>
          </a:p>
          <a:p>
            <a:pPr marL="0" indent="0">
              <a:buNone/>
            </a:pPr>
            <a:r>
              <a:rPr lang="en-US" sz="3000" b="1" dirty="0"/>
              <a:t> 2. Hardware Implementation</a:t>
            </a:r>
          </a:p>
          <a:p>
            <a:pPr marL="0" indent="0">
              <a:buNone/>
            </a:pPr>
            <a:r>
              <a:rPr lang="en-US" sz="3000" b="1" dirty="0"/>
              <a:t>Connect all components properly:</a:t>
            </a:r>
          </a:p>
          <a:p>
            <a:pPr marL="0" indent="0">
              <a:buNone/>
            </a:pPr>
            <a:r>
              <a:rPr lang="en-US" sz="3000" b="1" dirty="0"/>
              <a:t>Soil moisture sensor → monitors soil condition</a:t>
            </a:r>
          </a:p>
          <a:p>
            <a:pPr marL="0" indent="0">
              <a:buNone/>
            </a:pPr>
            <a:r>
              <a:rPr lang="en-US" sz="3000" b="1" dirty="0"/>
              <a:t>Microcontroller → processes data</a:t>
            </a:r>
          </a:p>
          <a:p>
            <a:pPr marL="0" indent="0">
              <a:buNone/>
            </a:pPr>
            <a:r>
              <a:rPr lang="en-US" sz="3000" b="1" dirty="0"/>
              <a:t>Motor driver → controls seed dispensing motor</a:t>
            </a:r>
          </a:p>
          <a:p>
            <a:pPr marL="0" indent="0">
              <a:buNone/>
            </a:pPr>
            <a:r>
              <a:rPr lang="en-US" sz="3000" b="1" dirty="0"/>
              <a:t>Pump → sprays water or seeds</a:t>
            </a:r>
          </a:p>
          <a:p>
            <a:pPr marL="0" indent="0">
              <a:buNone/>
            </a:pPr>
            <a:r>
              <a:rPr lang="en-US" sz="3000" b="1" dirty="0"/>
              <a:t>3. Software Development</a:t>
            </a:r>
          </a:p>
          <a:p>
            <a:pPr marL="0" indent="0">
              <a:buNone/>
            </a:pPr>
            <a:r>
              <a:rPr lang="en-US" sz="3000" b="1" dirty="0"/>
              <a:t>Program the microcontroller using embedded C/Arduino IDE.</a:t>
            </a:r>
          </a:p>
          <a:p>
            <a:pPr marL="0" indent="0">
              <a:buNone/>
            </a:pPr>
            <a:r>
              <a:rPr lang="en-US" sz="3000" b="1" dirty="0"/>
              <a:t>4. IoT Integration</a:t>
            </a:r>
          </a:p>
          <a:p>
            <a:pPr marL="0" indent="0">
              <a:buNone/>
            </a:pPr>
            <a:r>
              <a:rPr lang="en-US" sz="3000" b="1" dirty="0"/>
              <a:t>Connect system to internet using Wi-Fi (ESP8266/ESP32).</a:t>
            </a:r>
          </a:p>
        </p:txBody>
      </p:sp>
    </p:spTree>
    <p:extLst>
      <p:ext uri="{BB962C8B-B14F-4D97-AF65-F5344CB8AC3E}">
        <p14:creationId xmlns:p14="http://schemas.microsoft.com/office/powerpoint/2010/main" val="138849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50A4-16B9-0F17-D1B4-B805F41D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989012"/>
            <a:ext cx="7611979" cy="518946"/>
          </a:xfrm>
        </p:spPr>
        <p:txBody>
          <a:bodyPr>
            <a:normAutofit fontScale="90000"/>
          </a:bodyPr>
          <a:lstStyle/>
          <a:p>
            <a:b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 /Environmental Relevance</a:t>
            </a:r>
            <a:b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1182D-DB5A-3EF7-7D00-8F04DCCBC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9179" y="2149643"/>
            <a:ext cx="5229726" cy="377549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• Improves efficient use of water and seeds, reducing wastage of natural resources. </a:t>
            </a:r>
          </a:p>
          <a:p>
            <a:endParaRPr lang="en-US" sz="2000" dirty="0"/>
          </a:p>
          <a:p>
            <a:r>
              <a:rPr lang="en-US" sz="2000" dirty="0"/>
              <a:t>• Supports sustainable agriculture by minimizing over-irrigation and soil damage.</a:t>
            </a:r>
          </a:p>
          <a:p>
            <a:endParaRPr lang="en-US" sz="2000" dirty="0"/>
          </a:p>
          <a:p>
            <a:r>
              <a:rPr lang="en-US" sz="2000" dirty="0"/>
              <a:t>• Reduces manual labor, making farming easier and less time-consuming for farmers.</a:t>
            </a:r>
          </a:p>
          <a:p>
            <a:endParaRPr lang="en-US" sz="2000" dirty="0"/>
          </a:p>
          <a:p>
            <a:r>
              <a:rPr lang="en-US" sz="2000" dirty="0"/>
              <a:t>• Enhances crop productivity and quality, leading to better income for farmers.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7DBE23E-2D54-FB12-D754-92DD7331FE3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8905" y="1762211"/>
            <a:ext cx="6244389" cy="4162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403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D7A11-7A20-FE29-4D08-F95A349F7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9284" y="457200"/>
            <a:ext cx="4596063" cy="786063"/>
          </a:xfrm>
        </p:spPr>
        <p:txBody>
          <a:bodyPr/>
          <a:lstStyle/>
          <a:p>
            <a:r>
              <a:rPr lang="en-US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3773AE-5B36-86BB-3295-A6863984F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704" y="2053389"/>
            <a:ext cx="5558591" cy="4563979"/>
          </a:xfrm>
        </p:spPr>
        <p:txBody>
          <a:bodyPr>
            <a:noAutofit/>
          </a:bodyPr>
          <a:lstStyle/>
          <a:p>
            <a:r>
              <a:rPr lang="en-US" sz="2400" dirty="0"/>
              <a:t>• The IoT-based seed sprayer provides an efficient and automated solution for modern agriculture.</a:t>
            </a:r>
          </a:p>
          <a:p>
            <a:r>
              <a:rPr lang="en-US" sz="2400" dirty="0"/>
              <a:t>• It helps in reducing manual labor and saving time for farmers.</a:t>
            </a:r>
          </a:p>
          <a:p>
            <a:r>
              <a:rPr lang="en-US" sz="2400" dirty="0"/>
              <a:t>• The system ensures uniform seed distribution and optimal resource utilization.</a:t>
            </a:r>
          </a:p>
          <a:p>
            <a:r>
              <a:rPr lang="en-US" sz="2400" dirty="0"/>
              <a:t>• It minimizes water and seed wastage using real-time monitoring and control.</a:t>
            </a:r>
          </a:p>
          <a:p>
            <a:r>
              <a:rPr lang="en-US" sz="2400" dirty="0"/>
              <a:t>• The project improves crop productivity and overall farming efficiency.</a:t>
            </a:r>
            <a:endParaRPr lang="en-IN" sz="24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D57C3FD-4F24-3868-610F-A20BE819C2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114" y="1243263"/>
            <a:ext cx="3249083" cy="48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0992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E449C-73AA-C5A7-1CC3-314EFA889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303" y="-168442"/>
            <a:ext cx="3932237" cy="1231232"/>
          </a:xfrm>
        </p:spPr>
        <p:txBody>
          <a:bodyPr/>
          <a:lstStyle/>
          <a:p>
            <a:r>
              <a:rPr lang="en-IN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F7EF9-9BD2-B9D6-EB75-1C593811C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16251" y="2294020"/>
            <a:ext cx="7975349" cy="416292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References</a:t>
            </a:r>
          </a:p>
          <a:p>
            <a:r>
              <a:rPr lang="en-US" sz="2400" dirty="0"/>
              <a:t>Internet of Things: A Hands-On Approach</a:t>
            </a:r>
          </a:p>
          <a:p>
            <a:r>
              <a:rPr lang="en-US" sz="2400" dirty="0"/>
              <a:t>– Used for understanding IoT concepts, architecture, and real-world applications.</a:t>
            </a:r>
          </a:p>
          <a:p>
            <a:r>
              <a:rPr lang="en-US" sz="2400" dirty="0"/>
              <a:t>Getting Started with Arduino</a:t>
            </a:r>
          </a:p>
          <a:p>
            <a:r>
              <a:rPr lang="en-US" sz="2400" dirty="0"/>
              <a:t>– Reference for Arduino programming and hardware interfacing.</a:t>
            </a:r>
          </a:p>
          <a:p>
            <a:r>
              <a:rPr lang="en-US" sz="2400" dirty="0"/>
              <a:t>Arduino IDE</a:t>
            </a:r>
          </a:p>
          <a:p>
            <a:r>
              <a:rPr lang="en-US" sz="2400" dirty="0"/>
              <a:t>– Used for coding and uploading programs to the microcontroller.</a:t>
            </a:r>
          </a:p>
          <a:p>
            <a:r>
              <a:rPr lang="en-US" sz="2400" dirty="0"/>
              <a:t>Blynk IoT App</a:t>
            </a:r>
          </a:p>
          <a:p>
            <a:r>
              <a:rPr lang="en-US" sz="2400" dirty="0"/>
              <a:t>– Used for remote monitoring and control of the seed sprayer system.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35968F-E0C5-1E50-A5A1-5995ACAAB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8114" y="1572126"/>
            <a:ext cx="2763254" cy="426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8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extBox 1048614"/>
          <p:cNvSpPr txBox="1"/>
          <p:nvPr/>
        </p:nvSpPr>
        <p:spPr>
          <a:xfrm>
            <a:off x="3126296" y="3019998"/>
            <a:ext cx="6753590" cy="27381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8600" b="1" dirty="0">
                <a:solidFill>
                  <a:schemeClr val="tx1"/>
                </a:solidFill>
                <a:latin typeface="Algerian" pitchFamily="82" charset="0"/>
              </a:rPr>
              <a:t>THANK YOU </a:t>
            </a:r>
          </a:p>
        </p:txBody>
      </p:sp>
      <p:pic>
        <p:nvPicPr>
          <p:cNvPr id="3" name="Picture 3" descr="C:\Users\FACULTY\Desktop\aktu logo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555809" y="618579"/>
            <a:ext cx="1256441" cy="12564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605" grpId="0"/>
      <p:bldP spid="1048605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628</Words>
  <Application>Microsoft Office PowerPoint</Application>
  <PresentationFormat>Widescreen</PresentationFormat>
  <Paragraphs>111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Algerian</vt:lpstr>
      <vt:lpstr>Arial</vt:lpstr>
      <vt:lpstr>Baskerville Old Face</vt:lpstr>
      <vt:lpstr>Calibri</vt:lpstr>
      <vt:lpstr>Calibri Light</vt:lpstr>
      <vt:lpstr>Cambria</vt:lpstr>
      <vt:lpstr>Times New Roman</vt:lpstr>
      <vt:lpstr>Wingdings</vt:lpstr>
      <vt:lpstr>Office Theme</vt:lpstr>
      <vt:lpstr>PowerPoint Presentation</vt:lpstr>
      <vt:lpstr>PowerPoint Presentation</vt:lpstr>
      <vt:lpstr>IoT Based Seed Sprayer is a smart agriculture system used for automatic seed sowing and spraying.   • It uses sensors, microcontrollers (Arduino/Node MCU), and IoT technology to monitor field conditions.  • The system can automatically control seed spraying based on soil conditions and user input.  • Traditional farming methods are time-consuming, labor-intensive, and may lead to uneven seed distribution. </vt:lpstr>
      <vt:lpstr>Literature Review </vt:lpstr>
      <vt:lpstr>Objective of the project</vt:lpstr>
      <vt:lpstr>Feasibility Study </vt:lpstr>
      <vt:lpstr>Methodology/Technology  </vt:lpstr>
      <vt:lpstr> Social /Environmental Relevance </vt:lpstr>
      <vt:lpstr>Conclusion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</dc:title>
  <dc:creator>Prabha Kant Dwivedi</dc:creator>
  <cp:lastModifiedBy>Girijesh Verma</cp:lastModifiedBy>
  <cp:revision>39</cp:revision>
  <dcterms:created xsi:type="dcterms:W3CDTF">2018-07-05T09:19:00Z</dcterms:created>
  <dcterms:modified xsi:type="dcterms:W3CDTF">2026-03-24T06:28:28Z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7595733FF8C649A188C0A92AEEB82C86_13</vt:lpwstr>
  </property>
  <property fmtid="{D5CDD505-2E9C-101B-9397-08002B2CF9AE}" pid="3" name="KSOProductBuildVer">
    <vt:lpwstr>1033-12.2.0.18283</vt:lpwstr>
  </property>
</Properties>
</file>